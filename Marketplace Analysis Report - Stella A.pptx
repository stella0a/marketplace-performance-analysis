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9"/>
  </p:notesMasterIdLst>
  <p:sldIdLst>
    <p:sldId id="256" r:id="rId2"/>
    <p:sldId id="257" r:id="rId3"/>
    <p:sldId id="261" r:id="rId4"/>
    <p:sldId id="277" r:id="rId5"/>
    <p:sldId id="278" r:id="rId6"/>
    <p:sldId id="275" r:id="rId7"/>
    <p:sldId id="269" r:id="rId8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3030"/>
    <a:srgbClr val="0A814A"/>
    <a:srgbClr val="D9B300"/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B4FFDCC-3438-48ED-A649-185FE5FA8D81}">
  <a:tblStyle styleId="{CB4FFDCC-3438-48ED-A649-185FE5FA8D8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F606853-7671-496A-8E4F-DF71F8EC918B}" styleName="Dark Style 1 –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3969" autoAdjust="0"/>
  </p:normalViewPr>
  <p:slideViewPr>
    <p:cSldViewPr snapToGrid="0">
      <p:cViewPr varScale="1">
        <p:scale>
          <a:sx n="136" d="100"/>
          <a:sy n="136" d="100"/>
        </p:scale>
        <p:origin x="85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da9e51628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g3da9e516286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g3da9e516286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" name="Google Shape;3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a9e516286_1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g3da9e516286_1_1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3da9e516286_1_1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86AC3513-2814-2030-01FF-4F5E34FE9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>
            <a:extLst>
              <a:ext uri="{FF2B5EF4-FFF2-40B4-BE49-F238E27FC236}">
                <a16:creationId xmlns:a16="http://schemas.microsoft.com/office/drawing/2014/main" id="{D2924E4C-6D26-49F3-6184-231DA98CBA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5:notes">
            <a:extLst>
              <a:ext uri="{FF2B5EF4-FFF2-40B4-BE49-F238E27FC236}">
                <a16:creationId xmlns:a16="http://schemas.microsoft.com/office/drawing/2014/main" id="{204FF62F-6D56-C9BB-C830-D2443CEAB9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>
            <a:extLst>
              <a:ext uri="{FF2B5EF4-FFF2-40B4-BE49-F238E27FC236}">
                <a16:creationId xmlns:a16="http://schemas.microsoft.com/office/drawing/2014/main" id="{05BB1F3B-39E6-150D-D3E0-AB44DB2A7E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080464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2AB09C71-6A24-764D-EE39-6937D5249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a9e516286_1_138:notes">
            <a:extLst>
              <a:ext uri="{FF2B5EF4-FFF2-40B4-BE49-F238E27FC236}">
                <a16:creationId xmlns:a16="http://schemas.microsoft.com/office/drawing/2014/main" id="{FB97A55C-F68A-9DBB-DA29-6B4936DA1A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g3da9e516286_1_138:notes">
            <a:extLst>
              <a:ext uri="{FF2B5EF4-FFF2-40B4-BE49-F238E27FC236}">
                <a16:creationId xmlns:a16="http://schemas.microsoft.com/office/drawing/2014/main" id="{7EBC51A0-1410-69EE-0E4C-C21765E71F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3da9e516286_1_138:notes">
            <a:extLst>
              <a:ext uri="{FF2B5EF4-FFF2-40B4-BE49-F238E27FC236}">
                <a16:creationId xmlns:a16="http://schemas.microsoft.com/office/drawing/2014/main" id="{DD027818-3AFF-17A4-66D7-537D5CB1919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361133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682DE1A0-4BCD-7277-5FBA-356350831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9f279a0fd_0_175:notes">
            <a:extLst>
              <a:ext uri="{FF2B5EF4-FFF2-40B4-BE49-F238E27FC236}">
                <a16:creationId xmlns:a16="http://schemas.microsoft.com/office/drawing/2014/main" id="{3A364430-D07A-0901-9939-AED91ACE6F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3d9f279a0fd_0_175:notes">
            <a:extLst>
              <a:ext uri="{FF2B5EF4-FFF2-40B4-BE49-F238E27FC236}">
                <a16:creationId xmlns:a16="http://schemas.microsoft.com/office/drawing/2014/main" id="{26D32BF9-C1C0-A242-105C-16A7773263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g3d9f279a0fd_0_175:notes">
            <a:extLst>
              <a:ext uri="{FF2B5EF4-FFF2-40B4-BE49-F238E27FC236}">
                <a16:creationId xmlns:a16="http://schemas.microsoft.com/office/drawing/2014/main" id="{B43551AE-903E-AC61-FB19-D569F032D77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95492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11480" y="1498176"/>
            <a:ext cx="51207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 sz="2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Marketplace Service Performance </a:t>
            </a:r>
            <a:endParaRPr sz="26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11480" y="2377440"/>
            <a:ext cx="4663500" cy="54900"/>
          </a:xfrm>
          <a:prstGeom prst="rect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11480" y="2487168"/>
            <a:ext cx="51207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Calibri"/>
              <a:buNone/>
            </a:pPr>
            <a:endParaRPr sz="1300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Calibri"/>
              <a:buNone/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Last 3 Months (Oct 2025 - Dec 2025)</a:t>
            </a:r>
            <a:endParaRPr sz="1300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Calibri"/>
              <a:buNone/>
            </a:pPr>
            <a:endParaRPr sz="1300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11480" y="310896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Prepared by 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Stella Akindolie</a:t>
            </a:r>
            <a:endParaRPr sz="1000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896302" y="775237"/>
            <a:ext cx="2983767" cy="1104637"/>
          </a:xfrm>
          <a:prstGeom prst="roundRect">
            <a:avLst/>
          </a:prstGeom>
          <a:solidFill>
            <a:srgbClr val="D9B300"/>
          </a:solidFill>
          <a:ln w="12700" cap="flat" cmpd="sng">
            <a:solidFill>
              <a:srgbClr val="D9B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5896302" y="897517"/>
            <a:ext cx="2983767" cy="561685"/>
          </a:xfrm>
          <a:prstGeom prst="round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4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4.5 → 4.2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1000" b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-0.3pp </a:t>
            </a:r>
            <a:endParaRPr sz="10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5896302" y="1452653"/>
            <a:ext cx="2983767" cy="280689"/>
          </a:xfrm>
          <a:prstGeom prst="round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Buyer CSAT</a:t>
            </a:r>
            <a:endParaRPr sz="12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5896302" y="1982245"/>
            <a:ext cx="2983767" cy="1104637"/>
          </a:xfrm>
          <a:prstGeom prst="roundRect">
            <a:avLst/>
          </a:prstGeom>
          <a:solidFill>
            <a:srgbClr val="EB3030"/>
          </a:solidFill>
          <a:ln w="12700" cap="flat" cmpd="sng">
            <a:solidFill>
              <a:srgbClr val="EB30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5896302" y="2104525"/>
            <a:ext cx="2983767" cy="561685"/>
          </a:xfrm>
          <a:prstGeom prst="round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7% → 12%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+71.43% 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5896302" y="2659661"/>
            <a:ext cx="2983767" cy="280689"/>
          </a:xfrm>
          <a:prstGeom prst="round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Late Delivery Rate</a:t>
            </a:r>
            <a:endParaRPr sz="12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5896302" y="3189253"/>
            <a:ext cx="2983767" cy="1104637"/>
          </a:xfrm>
          <a:prstGeom prst="roundRect">
            <a:avLst/>
          </a:prstGeom>
          <a:solidFill>
            <a:srgbClr val="EB3030"/>
          </a:solidFill>
          <a:ln w="12700" cap="flat" cmpd="sng">
            <a:solidFill>
              <a:srgbClr val="EB303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5896302" y="3311533"/>
            <a:ext cx="2983767" cy="561685"/>
          </a:xfrm>
          <a:prstGeom prst="round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4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3% → 6%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10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+100% </a:t>
            </a:r>
            <a:endParaRPr sz="10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5896302" y="3866669"/>
            <a:ext cx="2983767" cy="280689"/>
          </a:xfrm>
          <a:prstGeom prst="round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Refund rate</a:t>
            </a:r>
            <a:endParaRPr sz="12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/>
          <p:nvPr/>
        </p:nvSpPr>
        <p:spPr>
          <a:xfrm>
            <a:off x="338340" y="177667"/>
            <a:ext cx="8046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4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What We'll Cover Today</a:t>
            </a:r>
            <a:endParaRPr sz="24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320040" y="4919472"/>
            <a:ext cx="8503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</a:pP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320040" y="930708"/>
            <a:ext cx="73152" cy="1005840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75488" y="976428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Calibri"/>
              <a:buNone/>
            </a:pPr>
            <a:r>
              <a:rPr lang="en-US" sz="2400" b="1" i="0" u="none" strike="noStrike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2400" b="0" i="0" u="none" strike="noStrike" cap="none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75488" y="1369620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Calibri"/>
              <a:buNone/>
            </a:pPr>
            <a:r>
              <a:rPr lang="en-US" sz="1400" b="1" i="0" u="none" strike="noStrike" cap="none" dirty="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Service Performance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75488" y="16439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lang="en-US" sz="11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Marketplace services performance</a:t>
            </a:r>
            <a:endParaRPr sz="11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20040" y="1948905"/>
            <a:ext cx="8503920" cy="18288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320040" y="2100648"/>
            <a:ext cx="73152" cy="1005840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75488" y="2146368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Calibri"/>
              <a:buNone/>
            </a:pPr>
            <a:r>
              <a:rPr lang="en-US" sz="2400" b="1" i="0" u="none" strike="noStrike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2400" b="0" i="0" u="none" strike="noStrike" cap="none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75488" y="2539560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Calibri"/>
              <a:buNone/>
            </a:pPr>
            <a:r>
              <a:rPr lang="en-US" sz="1400" b="1" i="0" u="none" strike="noStrike" cap="none" dirty="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Insights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75488" y="281388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lang="en-US" sz="11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Factors driving performance decline</a:t>
            </a:r>
            <a:endParaRPr sz="11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320040" y="3344725"/>
            <a:ext cx="73152" cy="100584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475488" y="3390445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Calibri"/>
              <a:buNone/>
            </a:pPr>
            <a:r>
              <a:rPr lang="en-US" sz="2400" b="1" i="0" u="none" strike="noStrike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2400" b="0" i="0" u="none" strike="noStrike" cap="none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75488" y="3783637"/>
            <a:ext cx="7772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Calibri"/>
              <a:buNone/>
            </a:pPr>
            <a:r>
              <a:rPr lang="en-US" b="1" dirty="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75488" y="4057957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lang="en-US" sz="11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Recommendations on actions to take</a:t>
            </a:r>
            <a:endParaRPr sz="11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48;p4">
            <a:extLst>
              <a:ext uri="{FF2B5EF4-FFF2-40B4-BE49-F238E27FC236}">
                <a16:creationId xmlns:a16="http://schemas.microsoft.com/office/drawing/2014/main" id="{3C22BEB5-B870-3403-FBBD-B4371DD0A152}"/>
              </a:ext>
            </a:extLst>
          </p:cNvPr>
          <p:cNvSpPr/>
          <p:nvPr/>
        </p:nvSpPr>
        <p:spPr>
          <a:xfrm>
            <a:off x="320040" y="3089216"/>
            <a:ext cx="8503920" cy="18288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48;p4">
            <a:extLst>
              <a:ext uri="{FF2B5EF4-FFF2-40B4-BE49-F238E27FC236}">
                <a16:creationId xmlns:a16="http://schemas.microsoft.com/office/drawing/2014/main" id="{2E37A68B-8B2D-A207-C0F5-D284A34EB4F1}"/>
              </a:ext>
            </a:extLst>
          </p:cNvPr>
          <p:cNvSpPr/>
          <p:nvPr/>
        </p:nvSpPr>
        <p:spPr>
          <a:xfrm>
            <a:off x="338340" y="4338208"/>
            <a:ext cx="8503920" cy="18288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 cap="flat" cmpd="sng">
            <a:solidFill>
              <a:schemeClr val="accent6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"/>
          <p:cNvSpPr/>
          <p:nvPr/>
        </p:nvSpPr>
        <p:spPr>
          <a:xfrm>
            <a:off x="0" y="0"/>
            <a:ext cx="9144000" cy="6573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9" name="Google Shape;89;p8"/>
          <p:cNvSpPr/>
          <p:nvPr/>
        </p:nvSpPr>
        <p:spPr>
          <a:xfrm>
            <a:off x="371472" y="295024"/>
            <a:ext cx="8046600" cy="769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rgbClr val="FFFFFF"/>
              </a:buClr>
              <a:buSzPts val="2200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 Deliveries Are a Seller-Origin Problem</a:t>
            </a:r>
            <a:b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371475" y="804859"/>
            <a:ext cx="2601161" cy="65729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8"/>
          <p:cNvSpPr/>
          <p:nvPr/>
        </p:nvSpPr>
        <p:spPr>
          <a:xfrm>
            <a:off x="371475" y="804858"/>
            <a:ext cx="2601161" cy="45719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8"/>
          <p:cNvSpPr/>
          <p:nvPr/>
        </p:nvSpPr>
        <p:spPr>
          <a:xfrm>
            <a:off x="553671" y="984580"/>
            <a:ext cx="2246881" cy="287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700"/>
              <a:buFont typeface="Calibri"/>
              <a:buNone/>
            </a:pPr>
            <a:r>
              <a:rPr lang="en-US" sz="2000" b="1" dirty="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64.7%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3232851" y="804859"/>
            <a:ext cx="2601161" cy="65729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8"/>
          <p:cNvSpPr/>
          <p:nvPr/>
        </p:nvSpPr>
        <p:spPr>
          <a:xfrm>
            <a:off x="3232852" y="804858"/>
            <a:ext cx="2601161" cy="4571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8"/>
          <p:cNvSpPr/>
          <p:nvPr/>
        </p:nvSpPr>
        <p:spPr>
          <a:xfrm>
            <a:off x="3415492" y="992991"/>
            <a:ext cx="2246881" cy="21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700"/>
              <a:buFont typeface="Calibri"/>
              <a:buNone/>
            </a:pPr>
            <a:r>
              <a:rPr lang="en-US" sz="2000" b="1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58.7%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6094227" y="804859"/>
            <a:ext cx="2601161" cy="65729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8"/>
          <p:cNvSpPr/>
          <p:nvPr/>
        </p:nvSpPr>
        <p:spPr>
          <a:xfrm>
            <a:off x="6094230" y="804858"/>
            <a:ext cx="2601161" cy="4571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8"/>
          <p:cNvSpPr/>
          <p:nvPr/>
        </p:nvSpPr>
        <p:spPr>
          <a:xfrm>
            <a:off x="6276868" y="992991"/>
            <a:ext cx="2246881" cy="21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700"/>
              <a:buFont typeface="Calibri"/>
              <a:buNone/>
            </a:pPr>
            <a:r>
              <a:rPr lang="en-US" sz="2000" b="1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8.2%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6381788" y="1951298"/>
            <a:ext cx="2313600" cy="2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UK late rate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258E3F-2050-2FDE-E82A-046590074A10}"/>
              </a:ext>
            </a:extLst>
          </p:cNvPr>
          <p:cNvSpPr txBox="1"/>
          <p:nvPr/>
        </p:nvSpPr>
        <p:spPr>
          <a:xfrm>
            <a:off x="558800" y="838894"/>
            <a:ext cx="6136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>
                <a:solidFill>
                  <a:schemeClr val="bg1"/>
                </a:solidFill>
              </a:rPr>
              <a:t>Country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9E8EE0-5417-0262-40F0-15B2BCCB4E5F}"/>
              </a:ext>
            </a:extLst>
          </p:cNvPr>
          <p:cNvSpPr txBox="1"/>
          <p:nvPr/>
        </p:nvSpPr>
        <p:spPr>
          <a:xfrm>
            <a:off x="2466813" y="838893"/>
            <a:ext cx="6603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>
                <a:solidFill>
                  <a:schemeClr val="bg1"/>
                </a:solidFill>
                <a:latin typeface="Aptos Narrow" panose="020B0004020202020204" pitchFamily="34" charset="0"/>
              </a:rPr>
              <a:t>Late Rate</a:t>
            </a:r>
          </a:p>
          <a:p>
            <a:pPr algn="ctr"/>
            <a:endParaRPr lang="en-GB" sz="10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01D23F-5A80-62DC-22F6-4C99B23BC523}"/>
              </a:ext>
            </a:extLst>
          </p:cNvPr>
          <p:cNvSpPr txBox="1"/>
          <p:nvPr/>
        </p:nvSpPr>
        <p:spPr>
          <a:xfrm>
            <a:off x="983832" y="1575356"/>
            <a:ext cx="33898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Average dispatch time (hrs) by category and country</a:t>
            </a:r>
            <a:endParaRPr lang="en-GB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C98747-1725-B09C-5248-BA62B5961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71" y="1786645"/>
            <a:ext cx="4471952" cy="2543086"/>
          </a:xfrm>
          <a:prstGeom prst="rect">
            <a:avLst/>
          </a:prstGeom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5E65B12-5758-2EE8-B479-BD6F27471E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0203" y="1815418"/>
            <a:ext cx="2231963" cy="2574244"/>
          </a:xfrm>
          <a:prstGeom prst="rect">
            <a:avLst/>
          </a:prstGeom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5A1A013-6B96-9525-C5B9-FB061441FB5F}"/>
              </a:ext>
            </a:extLst>
          </p:cNvPr>
          <p:cNvSpPr txBox="1"/>
          <p:nvPr/>
        </p:nvSpPr>
        <p:spPr>
          <a:xfrm>
            <a:off x="5651237" y="1555786"/>
            <a:ext cx="33898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 10 sellers dispatching late</a:t>
            </a:r>
          </a:p>
        </p:txBody>
      </p:sp>
      <p:sp>
        <p:nvSpPr>
          <p:cNvPr id="10" name="Google Shape;198;p13">
            <a:extLst>
              <a:ext uri="{FF2B5EF4-FFF2-40B4-BE49-F238E27FC236}">
                <a16:creationId xmlns:a16="http://schemas.microsoft.com/office/drawing/2014/main" id="{32B50F9E-1F64-48B9-CE43-E7E9CCB73AFB}"/>
              </a:ext>
            </a:extLst>
          </p:cNvPr>
          <p:cNvSpPr/>
          <p:nvPr/>
        </p:nvSpPr>
        <p:spPr>
          <a:xfrm>
            <a:off x="320100" y="4418983"/>
            <a:ext cx="8503800" cy="736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indent="-127000">
              <a:buClr>
                <a:srgbClr val="1C1C1C"/>
              </a:buClr>
              <a:buSzPts val="1050"/>
              <a:buFont typeface="Calibri"/>
              <a:buChar char="•"/>
            </a:pPr>
            <a:r>
              <a:rPr lang="en-US" sz="950" dirty="0">
                <a:solidFill>
                  <a:srgbClr val="1C1C1C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Late deliveries are caused  by the dispatch time. </a:t>
            </a:r>
            <a:r>
              <a:rPr lang="en-GB" sz="950" dirty="0">
                <a:solidFill>
                  <a:srgbClr val="1C1C1C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CN and DE sellers take 39-47 hours before shipping an order while UK sellers average 16-19 hours.</a:t>
            </a:r>
          </a:p>
          <a:p>
            <a:pPr marL="127000" lvl="0" indent="-127000">
              <a:buClr>
                <a:srgbClr val="1C1C1C"/>
              </a:buClr>
              <a:buSzPts val="1050"/>
              <a:buFont typeface="Calibri"/>
              <a:buChar char="•"/>
            </a:pPr>
            <a:r>
              <a:rPr lang="en-GB" sz="9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issue of late deliveries and long dispatch hours occurs across every product category for CN/DE especially with DE Fashion (87.5% late) and CN Electronics (75% late)</a:t>
            </a:r>
          </a:p>
          <a:p>
            <a:pPr marL="127000" lvl="0" indent="-127000">
              <a:buClr>
                <a:srgbClr val="1C1C1C"/>
              </a:buClr>
              <a:buSzPts val="1050"/>
              <a:buFont typeface="Calibri"/>
              <a:buChar char="•"/>
            </a:pPr>
            <a:r>
              <a:rPr lang="en-GB" sz="9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S005, S012, S0028, S011, S029 all exceed 70% late rates and are among the top 5 sellers dispatching late taking 48-57 hours to dispatch</a:t>
            </a:r>
            <a:endParaRPr sz="950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19988C-F237-1566-4C45-AD152E9EC13A}"/>
              </a:ext>
            </a:extLst>
          </p:cNvPr>
          <p:cNvSpPr txBox="1"/>
          <p:nvPr/>
        </p:nvSpPr>
        <p:spPr>
          <a:xfrm>
            <a:off x="983832" y="1248051"/>
            <a:ext cx="13773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CN Late Rate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6B47C3-7A91-7BC2-AE46-03F4337CF146}"/>
              </a:ext>
            </a:extLst>
          </p:cNvPr>
          <p:cNvSpPr txBox="1"/>
          <p:nvPr/>
        </p:nvSpPr>
        <p:spPr>
          <a:xfrm>
            <a:off x="3844767" y="1244276"/>
            <a:ext cx="13773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 Late Rate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EC2EE5-B68F-C517-969D-8D48463DFE08}"/>
              </a:ext>
            </a:extLst>
          </p:cNvPr>
          <p:cNvSpPr txBox="1"/>
          <p:nvPr/>
        </p:nvSpPr>
        <p:spPr>
          <a:xfrm>
            <a:off x="6706143" y="1255069"/>
            <a:ext cx="13773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UK Late Rate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>
          <a:extLst>
            <a:ext uri="{FF2B5EF4-FFF2-40B4-BE49-F238E27FC236}">
              <a16:creationId xmlns:a16="http://schemas.microsoft.com/office/drawing/2014/main" id="{2E216D75-4327-74DE-362F-4646AFC59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>
            <a:extLst>
              <a:ext uri="{FF2B5EF4-FFF2-40B4-BE49-F238E27FC236}">
                <a16:creationId xmlns:a16="http://schemas.microsoft.com/office/drawing/2014/main" id="{A1A6CE1F-A956-5C0F-FF3C-05C813F1C5FE}"/>
              </a:ext>
            </a:extLst>
          </p:cNvPr>
          <p:cNvSpPr/>
          <p:nvPr/>
        </p:nvSpPr>
        <p:spPr>
          <a:xfrm>
            <a:off x="320100" y="0"/>
            <a:ext cx="8021795" cy="699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FFFFFF"/>
              </a:buClr>
              <a:buSzPts val="2200"/>
            </a:pPr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Refunds are directly caused by late deliveries</a:t>
            </a:r>
            <a:endParaRPr sz="2000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22" name="Google Shape;122;p10">
            <a:extLst>
              <a:ext uri="{FF2B5EF4-FFF2-40B4-BE49-F238E27FC236}">
                <a16:creationId xmlns:a16="http://schemas.microsoft.com/office/drawing/2014/main" id="{0C1AF47B-A00E-71A2-4F9F-43FC981B6B7E}"/>
              </a:ext>
            </a:extLst>
          </p:cNvPr>
          <p:cNvSpPr/>
          <p:nvPr/>
        </p:nvSpPr>
        <p:spPr>
          <a:xfrm>
            <a:off x="320100" y="5277854"/>
            <a:ext cx="8503800" cy="929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marR="0" lvl="0" indent="-127000" algn="l" rtl="0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 err="1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Wightlink</a:t>
            </a:r>
            <a:r>
              <a:rPr lang="en-US" sz="1050" b="0" i="0" u="none" strike="noStrike" cap="none" dirty="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leads on impression share at 38.05%</a:t>
            </a:r>
            <a:r>
              <a:rPr lang="en-US" sz="1050" dirty="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1050" b="0" i="0" u="none" strike="noStrike" cap="none" dirty="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Our 89.84% top-of-page rate and 50.62% abs. top-of-page rate are strong across all campaign types.</a:t>
            </a:r>
            <a:endParaRPr sz="10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0" marR="0" lvl="0" indent="-127000" algn="l" rtl="0">
              <a:spcBef>
                <a:spcPts val="300"/>
              </a:spcBef>
              <a:spcAft>
                <a:spcPts val="0"/>
              </a:spcAft>
              <a:buClr>
                <a:srgbClr val="1C1C1C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directferries.co.uk and redfunnel.co.uk each appear in around 45–49% of our auctions. Despite this, our position above rate is competitive</a:t>
            </a:r>
            <a:endParaRPr sz="10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0" marR="0" lvl="0" indent="-127000" algn="l" rtl="0">
              <a:spcBef>
                <a:spcPts val="300"/>
              </a:spcBef>
              <a:spcAft>
                <a:spcPts val="0"/>
              </a:spcAft>
              <a:buClr>
                <a:srgbClr val="1C1C1C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openferry.com has established a foothold at 14.74% impression share with 28.6% overlap</a:t>
            </a:r>
            <a:r>
              <a:rPr lang="en-US" sz="1050" dirty="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1050" b="0" i="0" u="none" strike="noStrike" cap="none" dirty="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they are emerging as a third direct ferry competitor worth tracking into FY 2026/27.</a:t>
            </a:r>
            <a:endParaRPr sz="10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0" marR="0" lvl="0" indent="-127000" algn="l" rtl="0">
              <a:spcBef>
                <a:spcPts val="300"/>
              </a:spcBef>
              <a:spcAft>
                <a:spcPts val="0"/>
              </a:spcAft>
              <a:buClr>
                <a:srgbClr val="1C1C1C"/>
              </a:buClr>
              <a:buSzPts val="1050"/>
              <a:buFont typeface="Calibri"/>
              <a:buChar char="•"/>
            </a:pPr>
            <a:r>
              <a:rPr lang="en-US" sz="1050" b="0" i="0" u="none" strike="noStrike" cap="none" dirty="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booking.com, awayresorts.co.uk, and parkdeanresorts.co.uk all remain below 10% impression share</a:t>
            </a:r>
            <a:r>
              <a:rPr lang="en-US" sz="1050" dirty="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US" sz="1050" b="0" i="0" u="none" strike="noStrike" cap="none" dirty="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they are present but represent limited competitive pressure at a campaign-wide level.</a:t>
            </a:r>
            <a:endParaRPr sz="10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98;p13">
            <a:extLst>
              <a:ext uri="{FF2B5EF4-FFF2-40B4-BE49-F238E27FC236}">
                <a16:creationId xmlns:a16="http://schemas.microsoft.com/office/drawing/2014/main" id="{52D6BB0B-7509-4A71-A881-55250E3195CC}"/>
              </a:ext>
            </a:extLst>
          </p:cNvPr>
          <p:cNvSpPr/>
          <p:nvPr/>
        </p:nvSpPr>
        <p:spPr>
          <a:xfrm>
            <a:off x="6231436" y="1741976"/>
            <a:ext cx="2541191" cy="2941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lvl="0" indent="-127000">
              <a:buClr>
                <a:srgbClr val="1C1C1C"/>
              </a:buClr>
              <a:buSzPts val="1050"/>
              <a:buFont typeface="Calibri"/>
              <a:buChar char="•"/>
            </a:pPr>
            <a:r>
              <a:rPr lang="en-GB" sz="9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Late delivery is a significant contributor to refunds. 30.7% of all late orders end in a refund and not a single on-time order was refunded. </a:t>
            </a:r>
          </a:p>
          <a:p>
            <a:pPr marL="127000" lvl="0" indent="-127000">
              <a:buClr>
                <a:srgbClr val="1C1C1C"/>
              </a:buClr>
              <a:buSzPts val="1050"/>
              <a:buFont typeface="Calibri"/>
              <a:buChar char="•"/>
            </a:pPr>
            <a:endParaRPr lang="en-GB" sz="9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27000" lvl="0" indent="-127000">
              <a:buClr>
                <a:srgbClr val="1C1C1C"/>
              </a:buClr>
              <a:buSzPts val="1050"/>
              <a:buFont typeface="Calibri"/>
              <a:buChar char="•"/>
            </a:pPr>
            <a:r>
              <a:rPr lang="en-GB" sz="9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same seller cohort is driving refunds. CN sellers refund 20.2% of orders, DE sellers 17.5%, UK sellers 2.5%.</a:t>
            </a:r>
          </a:p>
          <a:p>
            <a:pPr lvl="0">
              <a:buClr>
                <a:srgbClr val="1C1C1C"/>
              </a:buClr>
              <a:buSzPts val="1050"/>
            </a:pPr>
            <a:endParaRPr lang="en-GB" sz="9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27000" lvl="0" indent="-127000">
              <a:buClr>
                <a:srgbClr val="1C1C1C"/>
              </a:buClr>
              <a:buSzPts val="1050"/>
              <a:buFont typeface="Calibri"/>
              <a:buChar char="•"/>
            </a:pPr>
            <a:r>
              <a:rPr lang="en-GB" sz="9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From the category level, Fashion (10.8%) and Toys (9.6%) carry the highest refund rates with DE Fashion taking a 50% refund rate and CN Electronics sits at 33.3%. </a:t>
            </a:r>
          </a:p>
          <a:p>
            <a:pPr lvl="0">
              <a:buClr>
                <a:srgbClr val="1C1C1C"/>
              </a:buClr>
              <a:buSzPts val="1050"/>
            </a:pPr>
            <a:endParaRPr lang="en-GB" sz="9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27000" lvl="0" indent="-127000">
              <a:buClr>
                <a:srgbClr val="1C1C1C"/>
              </a:buClr>
              <a:buSzPts val="1050"/>
              <a:buFont typeface="Calibri"/>
              <a:buChar char="•"/>
            </a:pPr>
            <a:r>
              <a:rPr lang="en-GB" sz="9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S012 (CN), S0021 (CN), S025 (DE), S029 (CN),  and S011 (CN) account for most of the refunds requested by customers.</a:t>
            </a:r>
          </a:p>
          <a:p>
            <a:pPr marL="127000" lvl="0" indent="-127000">
              <a:buClr>
                <a:srgbClr val="1C1C1C"/>
              </a:buClr>
              <a:buSzPts val="1050"/>
              <a:buFont typeface="Calibri"/>
              <a:buChar char="•"/>
            </a:pP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91;p8">
            <a:extLst>
              <a:ext uri="{FF2B5EF4-FFF2-40B4-BE49-F238E27FC236}">
                <a16:creationId xmlns:a16="http://schemas.microsoft.com/office/drawing/2014/main" id="{2D5E6C20-77DF-FD62-25DE-49FF33BCAD0A}"/>
              </a:ext>
            </a:extLst>
          </p:cNvPr>
          <p:cNvSpPr/>
          <p:nvPr/>
        </p:nvSpPr>
        <p:spPr>
          <a:xfrm>
            <a:off x="371475" y="769431"/>
            <a:ext cx="2678400" cy="738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92;p8">
            <a:extLst>
              <a:ext uri="{FF2B5EF4-FFF2-40B4-BE49-F238E27FC236}">
                <a16:creationId xmlns:a16="http://schemas.microsoft.com/office/drawing/2014/main" id="{74BE90A7-E511-389D-57FF-C18D097F768C}"/>
              </a:ext>
            </a:extLst>
          </p:cNvPr>
          <p:cNvSpPr/>
          <p:nvPr/>
        </p:nvSpPr>
        <p:spPr>
          <a:xfrm>
            <a:off x="371475" y="769431"/>
            <a:ext cx="2678400" cy="45000"/>
          </a:xfrm>
          <a:prstGeom prst="rect">
            <a:avLst/>
          </a:prstGeom>
          <a:solidFill>
            <a:srgbClr val="0A814A"/>
          </a:solidFill>
          <a:ln w="12700" cap="flat" cmpd="sng">
            <a:solidFill>
              <a:srgbClr val="0A81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93;p8">
            <a:extLst>
              <a:ext uri="{FF2B5EF4-FFF2-40B4-BE49-F238E27FC236}">
                <a16:creationId xmlns:a16="http://schemas.microsoft.com/office/drawing/2014/main" id="{972623D1-22AC-8B6F-04E8-76C692055503}"/>
              </a:ext>
            </a:extLst>
          </p:cNvPr>
          <p:cNvSpPr/>
          <p:nvPr/>
        </p:nvSpPr>
        <p:spPr>
          <a:xfrm>
            <a:off x="553671" y="949152"/>
            <a:ext cx="2313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700"/>
              <a:buFont typeface="Calibri"/>
              <a:buNone/>
            </a:pPr>
            <a:r>
              <a:rPr lang="en-US" sz="2000" b="1" dirty="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30.7%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94;p8">
            <a:extLst>
              <a:ext uri="{FF2B5EF4-FFF2-40B4-BE49-F238E27FC236}">
                <a16:creationId xmlns:a16="http://schemas.microsoft.com/office/drawing/2014/main" id="{50992682-83A7-AB9D-7926-F19B75DD1261}"/>
              </a:ext>
            </a:extLst>
          </p:cNvPr>
          <p:cNvSpPr/>
          <p:nvPr/>
        </p:nvSpPr>
        <p:spPr>
          <a:xfrm>
            <a:off x="554115" y="1236320"/>
            <a:ext cx="23136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50"/>
              <a:buFont typeface="Calibri"/>
              <a:buNone/>
            </a:pPr>
            <a:r>
              <a:rPr lang="en-GB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of late orders end in a refund</a:t>
            </a:r>
            <a:endParaRPr sz="900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95;p8">
            <a:extLst>
              <a:ext uri="{FF2B5EF4-FFF2-40B4-BE49-F238E27FC236}">
                <a16:creationId xmlns:a16="http://schemas.microsoft.com/office/drawing/2014/main" id="{159ED6D4-CFC4-399D-E183-2DD3010F26F0}"/>
              </a:ext>
            </a:extLst>
          </p:cNvPr>
          <p:cNvSpPr/>
          <p:nvPr/>
        </p:nvSpPr>
        <p:spPr>
          <a:xfrm>
            <a:off x="3232851" y="769431"/>
            <a:ext cx="2678400" cy="738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96;p8">
            <a:extLst>
              <a:ext uri="{FF2B5EF4-FFF2-40B4-BE49-F238E27FC236}">
                <a16:creationId xmlns:a16="http://schemas.microsoft.com/office/drawing/2014/main" id="{82425110-52A2-EC85-1806-9D173DA5DEDE}"/>
              </a:ext>
            </a:extLst>
          </p:cNvPr>
          <p:cNvSpPr/>
          <p:nvPr/>
        </p:nvSpPr>
        <p:spPr>
          <a:xfrm>
            <a:off x="3232852" y="769431"/>
            <a:ext cx="2678400" cy="45000"/>
          </a:xfrm>
          <a:prstGeom prst="rect">
            <a:avLst/>
          </a:prstGeom>
          <a:solidFill>
            <a:srgbClr val="0A814A"/>
          </a:solidFill>
          <a:ln w="12700" cap="flat" cmpd="sng">
            <a:solidFill>
              <a:srgbClr val="0A81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97;p8">
            <a:extLst>
              <a:ext uri="{FF2B5EF4-FFF2-40B4-BE49-F238E27FC236}">
                <a16:creationId xmlns:a16="http://schemas.microsoft.com/office/drawing/2014/main" id="{891BEA43-B2AF-8E82-572F-3D1E58600B5F}"/>
              </a:ext>
            </a:extLst>
          </p:cNvPr>
          <p:cNvSpPr/>
          <p:nvPr/>
        </p:nvSpPr>
        <p:spPr>
          <a:xfrm>
            <a:off x="3415492" y="957563"/>
            <a:ext cx="23136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700"/>
              <a:buFont typeface="Calibri"/>
              <a:buNone/>
            </a:pPr>
            <a:r>
              <a:rPr lang="en-US" sz="2000" b="1" dirty="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8%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98;p8">
            <a:extLst>
              <a:ext uri="{FF2B5EF4-FFF2-40B4-BE49-F238E27FC236}">
                <a16:creationId xmlns:a16="http://schemas.microsoft.com/office/drawing/2014/main" id="{1D6975CC-E05D-8F69-4E84-02D66C939CB3}"/>
              </a:ext>
            </a:extLst>
          </p:cNvPr>
          <p:cNvSpPr/>
          <p:nvPr/>
        </p:nvSpPr>
        <p:spPr>
          <a:xfrm>
            <a:off x="3415487" y="1236320"/>
            <a:ext cx="23136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50"/>
              <a:buFont typeface="Calibri"/>
              <a:buNone/>
            </a:pPr>
            <a:r>
              <a:rPr lang="en-GB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of quality issue tickets end in a refund</a:t>
            </a:r>
            <a:endParaRPr sz="900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99;p8">
            <a:extLst>
              <a:ext uri="{FF2B5EF4-FFF2-40B4-BE49-F238E27FC236}">
                <a16:creationId xmlns:a16="http://schemas.microsoft.com/office/drawing/2014/main" id="{E5135556-058E-2D72-1086-B3EAED51165E}"/>
              </a:ext>
            </a:extLst>
          </p:cNvPr>
          <p:cNvSpPr/>
          <p:nvPr/>
        </p:nvSpPr>
        <p:spPr>
          <a:xfrm>
            <a:off x="6094227" y="769431"/>
            <a:ext cx="2678400" cy="738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00;p8">
            <a:extLst>
              <a:ext uri="{FF2B5EF4-FFF2-40B4-BE49-F238E27FC236}">
                <a16:creationId xmlns:a16="http://schemas.microsoft.com/office/drawing/2014/main" id="{0F3BCD39-F6F0-F7D3-4FE1-9B4103C7D3BB}"/>
              </a:ext>
            </a:extLst>
          </p:cNvPr>
          <p:cNvSpPr/>
          <p:nvPr/>
        </p:nvSpPr>
        <p:spPr>
          <a:xfrm>
            <a:off x="6094230" y="769431"/>
            <a:ext cx="2678400" cy="45000"/>
          </a:xfrm>
          <a:prstGeom prst="rect">
            <a:avLst/>
          </a:prstGeom>
          <a:solidFill>
            <a:srgbClr val="0A814A"/>
          </a:solidFill>
          <a:ln w="12700" cap="flat" cmpd="sng">
            <a:solidFill>
              <a:srgbClr val="0A81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101;p8">
            <a:extLst>
              <a:ext uri="{FF2B5EF4-FFF2-40B4-BE49-F238E27FC236}">
                <a16:creationId xmlns:a16="http://schemas.microsoft.com/office/drawing/2014/main" id="{7BEE3A12-B830-E5A8-0EC6-92D94C3B3945}"/>
              </a:ext>
            </a:extLst>
          </p:cNvPr>
          <p:cNvSpPr/>
          <p:nvPr/>
        </p:nvSpPr>
        <p:spPr>
          <a:xfrm>
            <a:off x="6276868" y="957563"/>
            <a:ext cx="23136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700"/>
              <a:buFont typeface="Calibri"/>
              <a:buNone/>
            </a:pPr>
            <a:r>
              <a:rPr lang="en-US" sz="2000" b="1" dirty="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60%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102;p8">
            <a:extLst>
              <a:ext uri="{FF2B5EF4-FFF2-40B4-BE49-F238E27FC236}">
                <a16:creationId xmlns:a16="http://schemas.microsoft.com/office/drawing/2014/main" id="{A9CF0F58-B859-2880-B85E-949D993FEAD7}"/>
              </a:ext>
            </a:extLst>
          </p:cNvPr>
          <p:cNvSpPr/>
          <p:nvPr/>
        </p:nvSpPr>
        <p:spPr>
          <a:xfrm>
            <a:off x="6093888" y="1271294"/>
            <a:ext cx="2678638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50"/>
              <a:buFont typeface="Calibri"/>
              <a:buNone/>
            </a:pPr>
            <a:r>
              <a:rPr lang="en-GB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CN/DE are late on over 60% of their orders</a:t>
            </a:r>
            <a:endParaRPr sz="900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43A626-5402-B34F-889E-55F37FC0A8CB}"/>
              </a:ext>
            </a:extLst>
          </p:cNvPr>
          <p:cNvSpPr txBox="1"/>
          <p:nvPr/>
        </p:nvSpPr>
        <p:spPr>
          <a:xfrm>
            <a:off x="490837" y="1611171"/>
            <a:ext cx="24319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Refund rate by country and category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4143DCE-A71F-E7E6-F712-057E91147E49}"/>
              </a:ext>
            </a:extLst>
          </p:cNvPr>
          <p:cNvSpPr txBox="1"/>
          <p:nvPr/>
        </p:nvSpPr>
        <p:spPr>
          <a:xfrm>
            <a:off x="3496922" y="1664964"/>
            <a:ext cx="24319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 10 sellers with high refund rates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81BFCBC-EF72-FA20-B072-260A71DE7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5955" y="1931984"/>
            <a:ext cx="2541191" cy="294157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5A6430B-77B8-7A74-3BAF-FB05D3CB0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016" y="1872781"/>
            <a:ext cx="2438740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110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7">
          <a:extLst>
            <a:ext uri="{FF2B5EF4-FFF2-40B4-BE49-F238E27FC236}">
              <a16:creationId xmlns:a16="http://schemas.microsoft.com/office/drawing/2014/main" id="{FC27F5CF-3D72-5179-835E-313E53E72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">
            <a:extLst>
              <a:ext uri="{FF2B5EF4-FFF2-40B4-BE49-F238E27FC236}">
                <a16:creationId xmlns:a16="http://schemas.microsoft.com/office/drawing/2014/main" id="{DD5E48E6-E492-5E1A-CA70-B3E9854A40BF}"/>
              </a:ext>
            </a:extLst>
          </p:cNvPr>
          <p:cNvSpPr/>
          <p:nvPr/>
        </p:nvSpPr>
        <p:spPr>
          <a:xfrm>
            <a:off x="0" y="0"/>
            <a:ext cx="9144000" cy="6573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9" name="Google Shape;89;p8">
            <a:extLst>
              <a:ext uri="{FF2B5EF4-FFF2-40B4-BE49-F238E27FC236}">
                <a16:creationId xmlns:a16="http://schemas.microsoft.com/office/drawing/2014/main" id="{EDD722B7-A8E1-CD31-8BC9-88A20C3DD1CE}"/>
              </a:ext>
            </a:extLst>
          </p:cNvPr>
          <p:cNvSpPr/>
          <p:nvPr/>
        </p:nvSpPr>
        <p:spPr>
          <a:xfrm>
            <a:off x="371370" y="339159"/>
            <a:ext cx="8046600" cy="6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rgbClr val="FFFFFF"/>
              </a:buClr>
              <a:buSzPts val="2200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 Deliveries &amp; Refunds request are affecting CSAT score</a:t>
            </a:r>
            <a:b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8">
            <a:extLst>
              <a:ext uri="{FF2B5EF4-FFF2-40B4-BE49-F238E27FC236}">
                <a16:creationId xmlns:a16="http://schemas.microsoft.com/office/drawing/2014/main" id="{D9FE21F6-E026-C597-920E-D6D4CE293BBB}"/>
              </a:ext>
            </a:extLst>
          </p:cNvPr>
          <p:cNvSpPr/>
          <p:nvPr/>
        </p:nvSpPr>
        <p:spPr>
          <a:xfrm>
            <a:off x="371475" y="804859"/>
            <a:ext cx="2678400" cy="738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8">
            <a:extLst>
              <a:ext uri="{FF2B5EF4-FFF2-40B4-BE49-F238E27FC236}">
                <a16:creationId xmlns:a16="http://schemas.microsoft.com/office/drawing/2014/main" id="{550EC1C8-32A6-EEC6-386C-0512FFA4758A}"/>
              </a:ext>
            </a:extLst>
          </p:cNvPr>
          <p:cNvSpPr/>
          <p:nvPr/>
        </p:nvSpPr>
        <p:spPr>
          <a:xfrm>
            <a:off x="371475" y="804859"/>
            <a:ext cx="2678400" cy="45000"/>
          </a:xfrm>
          <a:prstGeom prst="rect">
            <a:avLst/>
          </a:prstGeom>
          <a:solidFill>
            <a:srgbClr val="0A814A"/>
          </a:solidFill>
          <a:ln w="12700" cap="flat" cmpd="sng">
            <a:solidFill>
              <a:srgbClr val="0A81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8">
            <a:extLst>
              <a:ext uri="{FF2B5EF4-FFF2-40B4-BE49-F238E27FC236}">
                <a16:creationId xmlns:a16="http://schemas.microsoft.com/office/drawing/2014/main" id="{7EDBF8EB-8143-2F16-64A0-FF7F3EA00FA1}"/>
              </a:ext>
            </a:extLst>
          </p:cNvPr>
          <p:cNvSpPr/>
          <p:nvPr/>
        </p:nvSpPr>
        <p:spPr>
          <a:xfrm>
            <a:off x="553671" y="984580"/>
            <a:ext cx="2313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700"/>
              <a:buFont typeface="Calibri"/>
              <a:buNone/>
            </a:pPr>
            <a:r>
              <a:rPr lang="en-US" sz="2000" b="1" dirty="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5.0 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>
            <a:extLst>
              <a:ext uri="{FF2B5EF4-FFF2-40B4-BE49-F238E27FC236}">
                <a16:creationId xmlns:a16="http://schemas.microsoft.com/office/drawing/2014/main" id="{20F6FB8B-059D-F89D-0647-617F3054D2D7}"/>
              </a:ext>
            </a:extLst>
          </p:cNvPr>
          <p:cNvSpPr/>
          <p:nvPr/>
        </p:nvSpPr>
        <p:spPr>
          <a:xfrm>
            <a:off x="554115" y="1271748"/>
            <a:ext cx="23136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50"/>
              <a:buFont typeface="Calibri"/>
              <a:buNone/>
            </a:pPr>
            <a:r>
              <a:rPr lang="en-US" sz="8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Ontime orders</a:t>
            </a:r>
            <a:endParaRPr sz="850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>
            <a:extLst>
              <a:ext uri="{FF2B5EF4-FFF2-40B4-BE49-F238E27FC236}">
                <a16:creationId xmlns:a16="http://schemas.microsoft.com/office/drawing/2014/main" id="{9B774F9F-3E9D-34CC-4200-48293265905B}"/>
              </a:ext>
            </a:extLst>
          </p:cNvPr>
          <p:cNvSpPr/>
          <p:nvPr/>
        </p:nvSpPr>
        <p:spPr>
          <a:xfrm>
            <a:off x="3232851" y="804859"/>
            <a:ext cx="2678400" cy="738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8">
            <a:extLst>
              <a:ext uri="{FF2B5EF4-FFF2-40B4-BE49-F238E27FC236}">
                <a16:creationId xmlns:a16="http://schemas.microsoft.com/office/drawing/2014/main" id="{73891A18-E92E-ADC6-468C-D7EA82FEF3E0}"/>
              </a:ext>
            </a:extLst>
          </p:cNvPr>
          <p:cNvSpPr/>
          <p:nvPr/>
        </p:nvSpPr>
        <p:spPr>
          <a:xfrm>
            <a:off x="3232852" y="804859"/>
            <a:ext cx="2678400" cy="45000"/>
          </a:xfrm>
          <a:prstGeom prst="rect">
            <a:avLst/>
          </a:prstGeom>
          <a:solidFill>
            <a:srgbClr val="D9B300"/>
          </a:solidFill>
          <a:ln w="12700" cap="flat" cmpd="sng">
            <a:solidFill>
              <a:srgbClr val="D9B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8">
            <a:extLst>
              <a:ext uri="{FF2B5EF4-FFF2-40B4-BE49-F238E27FC236}">
                <a16:creationId xmlns:a16="http://schemas.microsoft.com/office/drawing/2014/main" id="{66D2BA63-F40E-DCDE-DF50-58CC6E6C66C4}"/>
              </a:ext>
            </a:extLst>
          </p:cNvPr>
          <p:cNvSpPr/>
          <p:nvPr/>
        </p:nvSpPr>
        <p:spPr>
          <a:xfrm>
            <a:off x="3415492" y="992991"/>
            <a:ext cx="23136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700"/>
              <a:buFont typeface="Calibri"/>
              <a:buNone/>
            </a:pPr>
            <a:r>
              <a:rPr lang="en-US" sz="2000" b="1" dirty="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2.81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8">
            <a:extLst>
              <a:ext uri="{FF2B5EF4-FFF2-40B4-BE49-F238E27FC236}">
                <a16:creationId xmlns:a16="http://schemas.microsoft.com/office/drawing/2014/main" id="{BDA4C93F-1F2D-AD7E-5A14-4559901F4BF5}"/>
              </a:ext>
            </a:extLst>
          </p:cNvPr>
          <p:cNvSpPr/>
          <p:nvPr/>
        </p:nvSpPr>
        <p:spPr>
          <a:xfrm>
            <a:off x="3415487" y="1271748"/>
            <a:ext cx="23136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50"/>
              <a:buFont typeface="Calibri"/>
              <a:buNone/>
            </a:pPr>
            <a:r>
              <a:rPr lang="en-US" sz="8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Late orders</a:t>
            </a:r>
            <a:endParaRPr sz="850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>
            <a:extLst>
              <a:ext uri="{FF2B5EF4-FFF2-40B4-BE49-F238E27FC236}">
                <a16:creationId xmlns:a16="http://schemas.microsoft.com/office/drawing/2014/main" id="{2CFA3EF4-BF64-1E8B-83CA-FF67E7B8D546}"/>
              </a:ext>
            </a:extLst>
          </p:cNvPr>
          <p:cNvSpPr/>
          <p:nvPr/>
        </p:nvSpPr>
        <p:spPr>
          <a:xfrm>
            <a:off x="6094227" y="804859"/>
            <a:ext cx="2678400" cy="738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588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8">
            <a:extLst>
              <a:ext uri="{FF2B5EF4-FFF2-40B4-BE49-F238E27FC236}">
                <a16:creationId xmlns:a16="http://schemas.microsoft.com/office/drawing/2014/main" id="{5A56B70C-BD2C-7ACD-073C-889B97431951}"/>
              </a:ext>
            </a:extLst>
          </p:cNvPr>
          <p:cNvSpPr/>
          <p:nvPr/>
        </p:nvSpPr>
        <p:spPr>
          <a:xfrm>
            <a:off x="6094230" y="804859"/>
            <a:ext cx="2678400" cy="45000"/>
          </a:xfrm>
          <a:prstGeom prst="rect">
            <a:avLst/>
          </a:prstGeom>
          <a:solidFill>
            <a:srgbClr val="C00000"/>
          </a:solidFill>
          <a:ln w="127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8">
            <a:extLst>
              <a:ext uri="{FF2B5EF4-FFF2-40B4-BE49-F238E27FC236}">
                <a16:creationId xmlns:a16="http://schemas.microsoft.com/office/drawing/2014/main" id="{EAE92102-1946-35DE-5B26-FED9717C00BD}"/>
              </a:ext>
            </a:extLst>
          </p:cNvPr>
          <p:cNvSpPr/>
          <p:nvPr/>
        </p:nvSpPr>
        <p:spPr>
          <a:xfrm>
            <a:off x="6276868" y="992991"/>
            <a:ext cx="23136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700"/>
              <a:buFont typeface="Calibri"/>
              <a:buNone/>
            </a:pPr>
            <a:r>
              <a:rPr lang="en-US" sz="2000" b="1" dirty="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1.60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>
            <a:extLst>
              <a:ext uri="{FF2B5EF4-FFF2-40B4-BE49-F238E27FC236}">
                <a16:creationId xmlns:a16="http://schemas.microsoft.com/office/drawing/2014/main" id="{18E50B35-7418-2711-502A-01AAA27BB054}"/>
              </a:ext>
            </a:extLst>
          </p:cNvPr>
          <p:cNvSpPr/>
          <p:nvPr/>
        </p:nvSpPr>
        <p:spPr>
          <a:xfrm>
            <a:off x="6276858" y="1306724"/>
            <a:ext cx="2313600" cy="2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50"/>
              <a:buFont typeface="Calibri"/>
              <a:buNone/>
            </a:pPr>
            <a:r>
              <a:rPr lang="en-US" sz="85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Refunded orders</a:t>
            </a:r>
            <a:endParaRPr sz="850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>
            <a:extLst>
              <a:ext uri="{FF2B5EF4-FFF2-40B4-BE49-F238E27FC236}">
                <a16:creationId xmlns:a16="http://schemas.microsoft.com/office/drawing/2014/main" id="{6871CE79-702D-43F0-9426-FF37679C8C0B}"/>
              </a:ext>
            </a:extLst>
          </p:cNvPr>
          <p:cNvSpPr/>
          <p:nvPr/>
        </p:nvSpPr>
        <p:spPr>
          <a:xfrm>
            <a:off x="6094225" y="1783755"/>
            <a:ext cx="2773800" cy="3020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2889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Char char="●"/>
            </a:pPr>
            <a:r>
              <a:rPr lang="en-GB" sz="950" dirty="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Late delivery is the strongest factor affecting CSAT score and causing it to decline. On-time orders score a perfect 5.0 CSAT. Late orders score 2.81. This shows customers reviews/rating are largely driven by the kind of service they receive.</a:t>
            </a:r>
          </a:p>
          <a:p>
            <a:pPr marL="168275"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</a:pPr>
            <a:endParaRPr lang="en-GB" sz="950" dirty="0">
              <a:solidFill>
                <a:srgbClr val="1C1C1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889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Char char="●"/>
            </a:pPr>
            <a:r>
              <a:rPr lang="en-GB" sz="950" dirty="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Refunds are also contributing to CSAT decline. When a buyer receives late orders, they request for refunds which decreases CSAT scores further. Refunded orders score 1.60 CSAT on average</a:t>
            </a:r>
          </a:p>
          <a:p>
            <a:pPr marL="457200" marR="0" lvl="0" indent="-2889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Char char="●"/>
            </a:pPr>
            <a:endParaRPr sz="950" dirty="0">
              <a:solidFill>
                <a:srgbClr val="1C1C1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288925">
              <a:buClr>
                <a:srgbClr val="1C1C1C"/>
              </a:buClr>
              <a:buSzPts val="950"/>
              <a:buFont typeface="Calibri"/>
              <a:buChar char="●"/>
            </a:pPr>
            <a:r>
              <a:rPr lang="en-GB" sz="950" dirty="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CN and DE sellers have the Lowest CSAT scores with S019, S025, S029 appearing among the top.</a:t>
            </a:r>
          </a:p>
          <a:p>
            <a:pPr marL="168275">
              <a:buClr>
                <a:srgbClr val="1C1C1C"/>
              </a:buClr>
              <a:buSzPts val="950"/>
            </a:pPr>
            <a:r>
              <a:rPr lang="en-GB" sz="950" dirty="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457200" indent="-288925">
              <a:buClr>
                <a:srgbClr val="1C1C1C"/>
              </a:buClr>
              <a:buSzPts val="950"/>
              <a:buFont typeface="Calibri"/>
              <a:buChar char="●"/>
            </a:pPr>
            <a:r>
              <a:rPr lang="en-GB" sz="950" dirty="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UK Pro sellers outperform Standard sellers, but CN Pro sellers are actually performing worse than CN Standard sellers on late rate (68.9% vs 62.2%). </a:t>
            </a:r>
            <a:endParaRPr sz="950" dirty="0">
              <a:solidFill>
                <a:srgbClr val="1C1C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6D2090-A45E-4831-B2CD-444656657ED3}"/>
              </a:ext>
            </a:extLst>
          </p:cNvPr>
          <p:cNvSpPr txBox="1"/>
          <p:nvPr/>
        </p:nvSpPr>
        <p:spPr>
          <a:xfrm>
            <a:off x="440362" y="1692910"/>
            <a:ext cx="24959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CSAT by country and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ADFA54-2425-69B4-CDBB-6A98DDA49CCF}"/>
              </a:ext>
            </a:extLst>
          </p:cNvPr>
          <p:cNvSpPr txBox="1"/>
          <p:nvPr/>
        </p:nvSpPr>
        <p:spPr>
          <a:xfrm>
            <a:off x="3232851" y="1686591"/>
            <a:ext cx="24959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 10 sellers with low CSAT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81832B-1D79-79BB-BAB2-DDE61914C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046" y="1906578"/>
            <a:ext cx="2239740" cy="29353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756386A-1EE6-1C43-35A2-C573C8EE93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362" y="2009399"/>
            <a:ext cx="2674757" cy="2832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101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1">
          <a:extLst>
            <a:ext uri="{FF2B5EF4-FFF2-40B4-BE49-F238E27FC236}">
              <a16:creationId xmlns:a16="http://schemas.microsoft.com/office/drawing/2014/main" id="{BE7058D5-D1AD-3C77-F54F-A54D377AC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5">
            <a:extLst>
              <a:ext uri="{FF2B5EF4-FFF2-40B4-BE49-F238E27FC236}">
                <a16:creationId xmlns:a16="http://schemas.microsoft.com/office/drawing/2014/main" id="{CBD0309E-FC9F-93F1-B6FD-0BF93324D7D7}"/>
              </a:ext>
            </a:extLst>
          </p:cNvPr>
          <p:cNvSpPr/>
          <p:nvPr/>
        </p:nvSpPr>
        <p:spPr>
          <a:xfrm>
            <a:off x="548700" y="136483"/>
            <a:ext cx="8046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sz="22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5">
            <a:extLst>
              <a:ext uri="{FF2B5EF4-FFF2-40B4-BE49-F238E27FC236}">
                <a16:creationId xmlns:a16="http://schemas.microsoft.com/office/drawing/2014/main" id="{6C9A0195-D3C8-A05F-061F-A3AB9FAA118B}"/>
              </a:ext>
            </a:extLst>
          </p:cNvPr>
          <p:cNvSpPr/>
          <p:nvPr/>
        </p:nvSpPr>
        <p:spPr>
          <a:xfrm>
            <a:off x="4680254" y="1397423"/>
            <a:ext cx="3521782" cy="3355050"/>
          </a:xfrm>
          <a:prstGeom prst="rect">
            <a:avLst/>
          </a:prstGeom>
          <a:solidFill>
            <a:srgbClr val="FFFFFF"/>
          </a:solidFill>
          <a:ln w="100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  <a:effectLst>
            <a:outerShdw blurRad="106978" dist="26744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6275" tIns="96275" rIns="96275" bIns="96275" anchor="ctr" anchorCtr="0">
            <a:noAutofit/>
          </a:bodyPr>
          <a:lstStyle/>
          <a:p>
            <a:pPr lvl="0"/>
            <a:endParaRPr dirty="0"/>
          </a:p>
        </p:txBody>
      </p:sp>
      <p:sp>
        <p:nvSpPr>
          <p:cNvPr id="234" name="Google Shape;234;p15">
            <a:extLst>
              <a:ext uri="{FF2B5EF4-FFF2-40B4-BE49-F238E27FC236}">
                <a16:creationId xmlns:a16="http://schemas.microsoft.com/office/drawing/2014/main" id="{A73CA5C9-0C9A-4A0E-6971-30BA00F56C2B}"/>
              </a:ext>
            </a:extLst>
          </p:cNvPr>
          <p:cNvSpPr/>
          <p:nvPr/>
        </p:nvSpPr>
        <p:spPr>
          <a:xfrm>
            <a:off x="4783412" y="1561521"/>
            <a:ext cx="3418624" cy="490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Encourage exchange over refunds for customers or the option to keep in the platform for future purposes </a:t>
            </a:r>
            <a:endParaRPr sz="1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5">
            <a:extLst>
              <a:ext uri="{FF2B5EF4-FFF2-40B4-BE49-F238E27FC236}">
                <a16:creationId xmlns:a16="http://schemas.microsoft.com/office/drawing/2014/main" id="{9A960A7A-5369-B79C-84F2-4047EEB60DCD}"/>
              </a:ext>
            </a:extLst>
          </p:cNvPr>
          <p:cNvSpPr/>
          <p:nvPr/>
        </p:nvSpPr>
        <p:spPr>
          <a:xfrm>
            <a:off x="877330" y="887832"/>
            <a:ext cx="3521782" cy="475500"/>
          </a:xfrm>
          <a:prstGeom prst="rect">
            <a:avLst/>
          </a:prstGeom>
          <a:solidFill>
            <a:srgbClr val="0A814A"/>
          </a:solidFill>
          <a:ln w="13375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6275" tIns="96275" rIns="96275" bIns="96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Seller</a:t>
            </a:r>
            <a:endParaRPr sz="12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Google Shape;236;p15">
            <a:extLst>
              <a:ext uri="{FF2B5EF4-FFF2-40B4-BE49-F238E27FC236}">
                <a16:creationId xmlns:a16="http://schemas.microsoft.com/office/drawing/2014/main" id="{21F28345-ACF4-DC70-ECDF-54634C85230F}"/>
              </a:ext>
            </a:extLst>
          </p:cNvPr>
          <p:cNvSpPr/>
          <p:nvPr/>
        </p:nvSpPr>
        <p:spPr>
          <a:xfrm>
            <a:off x="4680254" y="889755"/>
            <a:ext cx="3521782" cy="494740"/>
          </a:xfrm>
          <a:prstGeom prst="rect">
            <a:avLst/>
          </a:prstGeom>
          <a:solidFill>
            <a:srgbClr val="0A814A"/>
          </a:solidFill>
          <a:ln w="13375" cap="flat" cmpd="sng">
            <a:solidFill>
              <a:schemeClr val="accent6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6275" tIns="96275" rIns="96275" bIns="96275" anchor="ctr" anchorCtr="0">
            <a:noAutofit/>
          </a:bodyPr>
          <a:lstStyle/>
          <a:p>
            <a:pPr algn="ctr"/>
            <a:endParaRPr lang="en-GB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GB" sz="1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Buyer (customers)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bg1"/>
              </a:solidFill>
            </a:endParaRPr>
          </a:p>
        </p:txBody>
      </p:sp>
      <p:sp>
        <p:nvSpPr>
          <p:cNvPr id="4" name="Google Shape;231;p15">
            <a:extLst>
              <a:ext uri="{FF2B5EF4-FFF2-40B4-BE49-F238E27FC236}">
                <a16:creationId xmlns:a16="http://schemas.microsoft.com/office/drawing/2014/main" id="{81156EB0-CE72-03BE-05D4-73181FF6C33C}"/>
              </a:ext>
            </a:extLst>
          </p:cNvPr>
          <p:cNvSpPr/>
          <p:nvPr/>
        </p:nvSpPr>
        <p:spPr>
          <a:xfrm>
            <a:off x="877330" y="1386185"/>
            <a:ext cx="3521782" cy="3378320"/>
          </a:xfrm>
          <a:prstGeom prst="rect">
            <a:avLst/>
          </a:prstGeom>
          <a:solidFill>
            <a:srgbClr val="FFFFFF"/>
          </a:solidFill>
          <a:ln w="100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  <a:effectLst>
            <a:outerShdw blurRad="106978" dist="26744" dir="8100000" algn="bl" rotWithShape="0">
              <a:srgbClr val="000000">
                <a:alpha val="10200"/>
              </a:srgbClr>
            </a:outerShdw>
          </a:effectLst>
        </p:spPr>
        <p:txBody>
          <a:bodyPr spcFirstLastPara="1" wrap="square" lIns="96275" tIns="96275" rIns="96275" bIns="96275" anchor="ctr" anchorCtr="0">
            <a:noAutofit/>
          </a:bodyPr>
          <a:lstStyle/>
          <a:p>
            <a:pPr lvl="0">
              <a:buClr>
                <a:srgbClr val="666666"/>
              </a:buClr>
              <a:buSzPts val="1000"/>
            </a:pPr>
            <a:endParaRPr lang="en-GB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5">
            <a:extLst>
              <a:ext uri="{FF2B5EF4-FFF2-40B4-BE49-F238E27FC236}">
                <a16:creationId xmlns:a16="http://schemas.microsoft.com/office/drawing/2014/main" id="{7A5245A7-1EAE-9DC6-0C96-7F9B534F0ADC}"/>
              </a:ext>
            </a:extLst>
          </p:cNvPr>
          <p:cNvSpPr/>
          <p:nvPr/>
        </p:nvSpPr>
        <p:spPr>
          <a:xfrm>
            <a:off x="877427" y="1485442"/>
            <a:ext cx="3490627" cy="1457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endParaRPr lang="en-US" sz="1000" dirty="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endParaRPr lang="en-US" sz="1000" dirty="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endParaRPr lang="en-US" sz="1000" dirty="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34;p15">
            <a:extLst>
              <a:ext uri="{FF2B5EF4-FFF2-40B4-BE49-F238E27FC236}">
                <a16:creationId xmlns:a16="http://schemas.microsoft.com/office/drawing/2014/main" id="{1B0731EE-CC56-73A0-060C-17D688BAE557}"/>
              </a:ext>
            </a:extLst>
          </p:cNvPr>
          <p:cNvSpPr/>
          <p:nvPr/>
        </p:nvSpPr>
        <p:spPr>
          <a:xfrm>
            <a:off x="940262" y="1463903"/>
            <a:ext cx="3418624" cy="792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1450" lvl="0" indent="-171450">
              <a:buClr>
                <a:srgbClr val="666666"/>
              </a:buClr>
              <a:buSzPts val="1000"/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Implement stricter late dispatch metrics  - we should consider enforcing a 24-hour dispatch time cap for sellers and penalties for consistent failure like reduced visibility or listing suspension. </a:t>
            </a:r>
            <a:endParaRPr sz="1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234;p15">
            <a:extLst>
              <a:ext uri="{FF2B5EF4-FFF2-40B4-BE49-F238E27FC236}">
                <a16:creationId xmlns:a16="http://schemas.microsoft.com/office/drawing/2014/main" id="{D2C5EC26-8B33-6807-8B05-9FB7D9A75D49}"/>
              </a:ext>
            </a:extLst>
          </p:cNvPr>
          <p:cNvSpPr/>
          <p:nvPr/>
        </p:nvSpPr>
        <p:spPr>
          <a:xfrm>
            <a:off x="949430" y="2316879"/>
            <a:ext cx="3418624" cy="981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Review the Pro tier criteria and introduce stricter requirements for sellers to meet to  earn the badge. This could also include stricter vendor screening.</a:t>
            </a:r>
            <a:endParaRPr sz="1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34;p15">
            <a:extLst>
              <a:ext uri="{FF2B5EF4-FFF2-40B4-BE49-F238E27FC236}">
                <a16:creationId xmlns:a16="http://schemas.microsoft.com/office/drawing/2014/main" id="{AE0C1FAF-5D58-FC15-CBE0-C719C9CEAEE9}"/>
              </a:ext>
            </a:extLst>
          </p:cNvPr>
          <p:cNvSpPr/>
          <p:nvPr/>
        </p:nvSpPr>
        <p:spPr>
          <a:xfrm>
            <a:off x="4783412" y="2089396"/>
            <a:ext cx="3418624" cy="680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Consider introducing a compensation for late deliveries e.g. discount on next orders </a:t>
            </a:r>
            <a:endParaRPr sz="1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34;p15">
            <a:extLst>
              <a:ext uri="{FF2B5EF4-FFF2-40B4-BE49-F238E27FC236}">
                <a16:creationId xmlns:a16="http://schemas.microsoft.com/office/drawing/2014/main" id="{1954E5B7-FEE4-BC74-E359-31FFF1DFB42A}"/>
              </a:ext>
            </a:extLst>
          </p:cNvPr>
          <p:cNvSpPr/>
          <p:nvPr/>
        </p:nvSpPr>
        <p:spPr>
          <a:xfrm>
            <a:off x="949430" y="3075345"/>
            <a:ext cx="3418624" cy="981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Introduce tiered delivery options that meets the customers expectations and allow sellers to set realistic delivery windows within the marketplace windows. e.g. </a:t>
            </a:r>
            <a:r>
              <a:rPr lang="en-GB" sz="1000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standard 3 to 5 days or premium next day</a:t>
            </a:r>
            <a:r>
              <a:rPr lang="en-US" sz="1000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1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234;p15">
            <a:extLst>
              <a:ext uri="{FF2B5EF4-FFF2-40B4-BE49-F238E27FC236}">
                <a16:creationId xmlns:a16="http://schemas.microsoft.com/office/drawing/2014/main" id="{710DC104-0868-C02E-1BCE-403E6910A494}"/>
              </a:ext>
            </a:extLst>
          </p:cNvPr>
          <p:cNvSpPr/>
          <p:nvPr/>
        </p:nvSpPr>
        <p:spPr>
          <a:xfrm>
            <a:off x="964959" y="3914771"/>
            <a:ext cx="3418624" cy="981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Consistently encourage prepackaging items among sellers to speed up dispatch time and </a:t>
            </a:r>
            <a:r>
              <a:rPr lang="en-GB" sz="1000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introduce category-level quality standards for Fashion and Toys</a:t>
            </a:r>
            <a:endParaRPr sz="1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234;p15">
            <a:extLst>
              <a:ext uri="{FF2B5EF4-FFF2-40B4-BE49-F238E27FC236}">
                <a16:creationId xmlns:a16="http://schemas.microsoft.com/office/drawing/2014/main" id="{89F2CAD7-E6E5-F7A3-9071-25728054292A}"/>
              </a:ext>
            </a:extLst>
          </p:cNvPr>
          <p:cNvSpPr/>
          <p:nvPr/>
        </p:nvSpPr>
        <p:spPr>
          <a:xfrm>
            <a:off x="4775946" y="2659078"/>
            <a:ext cx="3418624" cy="680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1450" lvl="0" indent="-171450">
              <a:buClr>
                <a:srgbClr val="666666"/>
              </a:buClr>
              <a:buSzPts val="1000"/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Alert buyers automatically when an order is running late  before they raise a ticket. This would help reduce complaint volume and show platform accountability.</a:t>
            </a:r>
            <a:endParaRPr sz="1000" b="0" i="0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63889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6"/>
          <p:cNvSpPr/>
          <p:nvPr/>
        </p:nvSpPr>
        <p:spPr>
          <a:xfrm>
            <a:off x="411480" y="146304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Any Questions?</a:t>
            </a:r>
            <a:endParaRPr sz="4000" b="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847</Words>
  <Application>Microsoft Office PowerPoint</Application>
  <PresentationFormat>On-screen Show (16:9)</PresentationFormat>
  <Paragraphs>96</Paragraphs>
  <Slides>7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 Narrow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STELLA</dc:creator>
  <cp:lastModifiedBy>Oluwatosin Akindolie</cp:lastModifiedBy>
  <cp:revision>3</cp:revision>
  <dcterms:modified xsi:type="dcterms:W3CDTF">2026-05-17T14:30:49Z</dcterms:modified>
</cp:coreProperties>
</file>